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time: one command validates every package, rejects bad ones with a reason, writes the Parquet lake and builds the agent DB. Question time: login computes the allowed experiment IDs; the planner (model) only picks a tool; tools are plain code over access-filtered views; the writer (model) writes from the returned rows; the checker (code) verifies every cited ID and number before the answer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17918" y="302630"/>
            <a:ext cx="8737189" cy="326188"/>
          </a:xfrm>
        </p:spPr>
        <p:txBody>
          <a:bodyPr lIns="0" rIns="0" tIns="0" bIns="0" anchor="ctr"/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Models only write words; plain code guards the data</a:t>
            </a:r>
          </a:p>
        </p:txBody>
      </p:sp>
      <p:sp>
        <p:nvSpPr>
          <p:cNvPr id="3" name="Group - Build time"/>
          <p:cNvSpPr/>
          <p:nvPr/>
        </p:nvSpPr>
        <p:spPr>
          <a:xfrm>
            <a:off x="501422" y="885109"/>
            <a:ext cx="6844131" cy="3215285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9D8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 - Build time"/>
          <p:cNvSpPr txBox="1"/>
          <p:nvPr/>
        </p:nvSpPr>
        <p:spPr>
          <a:xfrm>
            <a:off x="746063" y="1071502"/>
            <a:ext cx="4077354" cy="23299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500" b="1">
                <a:solidFill>
                  <a:srgbClr val="444444"/>
                </a:solidFill>
                <a:latin typeface="Arial"/>
              </a:rPr>
              <a:t>Build time: one command</a:t>
            </a:r>
          </a:p>
        </p:txBody>
      </p:sp>
      <p:sp>
        <p:nvSpPr>
          <p:cNvPr id="5" name="Group - Question time"/>
          <p:cNvSpPr/>
          <p:nvPr/>
        </p:nvSpPr>
        <p:spPr>
          <a:xfrm>
            <a:off x="501422" y="4409109"/>
            <a:ext cx="11224375" cy="2096925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9D8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 - Question time"/>
          <p:cNvSpPr txBox="1"/>
          <p:nvPr/>
        </p:nvSpPr>
        <p:spPr>
          <a:xfrm>
            <a:off x="746063" y="4578028"/>
            <a:ext cx="5242313" cy="23299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500" b="1">
                <a:solidFill>
                  <a:srgbClr val="444444"/>
                </a:solidFill>
                <a:latin typeface="Arial"/>
              </a:rPr>
              <a:t>Question time: for each user question</a:t>
            </a:r>
          </a:p>
        </p:txBody>
      </p:sp>
      <p:sp>
        <p:nvSpPr>
          <p:cNvPr id="7" name="Packages"/>
          <p:cNvSpPr/>
          <p:nvPr/>
        </p:nvSpPr>
        <p:spPr>
          <a:xfrm>
            <a:off x="617918" y="1496712"/>
            <a:ext cx="1916356" cy="86789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Packages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One folder each</a:t>
            </a:r>
          </a:p>
        </p:txBody>
      </p:sp>
      <p:sp>
        <p:nvSpPr>
          <p:cNvPr id="8" name="Loader"/>
          <p:cNvSpPr/>
          <p:nvPr/>
        </p:nvSpPr>
        <p:spPr>
          <a:xfrm>
            <a:off x="2889587" y="1496712"/>
            <a:ext cx="1916356" cy="86789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Loader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Checks each one</a:t>
            </a:r>
          </a:p>
        </p:txBody>
      </p:sp>
      <p:sp>
        <p:nvSpPr>
          <p:cNvPr id="9" name="Lake"/>
          <p:cNvSpPr/>
          <p:nvPr/>
        </p:nvSpPr>
        <p:spPr>
          <a:xfrm>
            <a:off x="5155431" y="1496712"/>
            <a:ext cx="1916356" cy="867894"/>
          </a:xfrm>
          <a:prstGeom prst="roundRect">
            <a:avLst>
              <a:gd name="adj" fmla="val 9000"/>
            </a:avLst>
          </a:prstGeom>
          <a:solidFill>
            <a:srgbClr val="ECECEA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Lake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Parquet files</a:t>
            </a:r>
          </a:p>
        </p:txBody>
      </p:sp>
      <p:sp>
        <p:nvSpPr>
          <p:cNvPr id="10" name="Rejected"/>
          <p:cNvSpPr/>
          <p:nvPr/>
        </p:nvSpPr>
        <p:spPr>
          <a:xfrm>
            <a:off x="2889587" y="2917962"/>
            <a:ext cx="1916356" cy="87371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Rejected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Report only</a:t>
            </a:r>
          </a:p>
        </p:txBody>
      </p:sp>
      <p:sp>
        <p:nvSpPr>
          <p:cNvPr id="11" name="Agent DB"/>
          <p:cNvSpPr/>
          <p:nvPr/>
        </p:nvSpPr>
        <p:spPr>
          <a:xfrm>
            <a:off x="5155431" y="2917962"/>
            <a:ext cx="1916356" cy="873718"/>
          </a:xfrm>
          <a:prstGeom prst="roundRect">
            <a:avLst>
              <a:gd name="adj" fmla="val 9000"/>
            </a:avLst>
          </a:prstGeom>
          <a:solidFill>
            <a:srgbClr val="ECECEA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Agent DB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Safe rows only</a:t>
            </a:r>
          </a:p>
        </p:txBody>
      </p:sp>
      <p:sp>
        <p:nvSpPr>
          <p:cNvPr id="12" name="Login"/>
          <p:cNvSpPr/>
          <p:nvPr/>
        </p:nvSpPr>
        <p:spPr>
          <a:xfrm>
            <a:off x="617918" y="5084785"/>
            <a:ext cx="1916356" cy="111253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Login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Your group and</a:t>
            </a:r>
            <a:br/>
            <a:r>
              <a:rPr sz="1500">
                <a:solidFill>
                  <a:srgbClr val="555555"/>
                </a:solidFill>
                <a:latin typeface="Arial"/>
              </a:rPr>
              <a:t>allowed IDs</a:t>
            </a:r>
          </a:p>
        </p:txBody>
      </p:sp>
      <p:sp>
        <p:nvSpPr>
          <p:cNvPr id="13" name="Planner"/>
          <p:cNvSpPr/>
          <p:nvPr/>
        </p:nvSpPr>
        <p:spPr>
          <a:xfrm>
            <a:off x="2883762" y="5084785"/>
            <a:ext cx="1922181" cy="1112535"/>
          </a:xfrm>
          <a:prstGeom prst="roundRect">
            <a:avLst>
              <a:gd name="adj" fmla="val 9000"/>
            </a:avLst>
          </a:prstGeom>
          <a:solidFill>
            <a:srgbClr val="E8EFF9"/>
          </a:solidFill>
          <a:ln w="28575">
            <a:solidFill>
              <a:srgbClr val="3B7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Planner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Model picks a</a:t>
            </a:r>
            <a:br/>
            <a:r>
              <a:rPr sz="1500">
                <a:solidFill>
                  <a:srgbClr val="555555"/>
                </a:solidFill>
                <a:latin typeface="Arial"/>
              </a:rPr>
              <a:t>tool and inputs</a:t>
            </a:r>
          </a:p>
        </p:txBody>
      </p:sp>
      <p:sp>
        <p:nvSpPr>
          <p:cNvPr id="14" name="Tools"/>
          <p:cNvSpPr/>
          <p:nvPr/>
        </p:nvSpPr>
        <p:spPr>
          <a:xfrm>
            <a:off x="5155431" y="5084785"/>
            <a:ext cx="1916356" cy="111253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Tools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Plain code that</a:t>
            </a:r>
            <a:br/>
            <a:r>
              <a:rPr sz="1500">
                <a:solidFill>
                  <a:srgbClr val="555555"/>
                </a:solidFill>
                <a:latin typeface="Arial"/>
              </a:rPr>
              <a:t>uses your IDs</a:t>
            </a:r>
          </a:p>
        </p:txBody>
      </p:sp>
      <p:sp>
        <p:nvSpPr>
          <p:cNvPr id="15" name="Writer"/>
          <p:cNvSpPr/>
          <p:nvPr/>
        </p:nvSpPr>
        <p:spPr>
          <a:xfrm>
            <a:off x="7421275" y="5084785"/>
            <a:ext cx="1922181" cy="1112535"/>
          </a:xfrm>
          <a:prstGeom prst="roundRect">
            <a:avLst>
              <a:gd name="adj" fmla="val 9000"/>
            </a:avLst>
          </a:prstGeom>
          <a:solidFill>
            <a:srgbClr val="E8EFF9"/>
          </a:solidFill>
          <a:ln w="28575">
            <a:solidFill>
              <a:srgbClr val="3B7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Writer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Model writes</a:t>
            </a:r>
            <a:br/>
            <a:r>
              <a:rPr sz="1500">
                <a:solidFill>
                  <a:srgbClr val="555555"/>
                </a:solidFill>
                <a:latin typeface="Arial"/>
              </a:rPr>
              <a:t>from the rows</a:t>
            </a:r>
          </a:p>
        </p:txBody>
      </p:sp>
      <p:sp>
        <p:nvSpPr>
          <p:cNvPr id="16" name="Checker"/>
          <p:cNvSpPr/>
          <p:nvPr/>
        </p:nvSpPr>
        <p:spPr>
          <a:xfrm>
            <a:off x="9692945" y="5084785"/>
            <a:ext cx="1916356" cy="111253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Checker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55555"/>
                </a:solidFill>
                <a:latin typeface="Arial"/>
              </a:rPr>
              <a:t>Plain code:</a:t>
            </a:r>
            <a:br/>
            <a:r>
              <a:rPr sz="1500">
                <a:solidFill>
                  <a:srgbClr val="555555"/>
                </a:solidFill>
                <a:latin typeface="Arial"/>
              </a:rPr>
              <a:t>IDs and numbers</a:t>
            </a:r>
          </a:p>
        </p:txBody>
      </p:sp>
      <p:cxnSp>
        <p:nvCxnSpPr>
          <p:cNvPr id="17" name="Arrow - Packages to Loader"/>
          <p:cNvCxnSpPr/>
          <p:nvPr/>
        </p:nvCxnSpPr>
        <p:spPr>
          <a:xfrm>
            <a:off x="2534274" y="1930659"/>
            <a:ext cx="355313" cy="0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 - Loader to Lake"/>
          <p:cNvCxnSpPr/>
          <p:nvPr/>
        </p:nvCxnSpPr>
        <p:spPr>
          <a:xfrm>
            <a:off x="4805944" y="1930659"/>
            <a:ext cx="349487" cy="0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row - Loader to Rejected"/>
          <p:cNvCxnSpPr/>
          <p:nvPr/>
        </p:nvCxnSpPr>
        <p:spPr>
          <a:xfrm>
            <a:off x="3844853" y="2364606"/>
            <a:ext cx="0" cy="553356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row - Lake to Agent DB"/>
          <p:cNvCxnSpPr/>
          <p:nvPr/>
        </p:nvCxnSpPr>
        <p:spPr>
          <a:xfrm>
            <a:off x="6110697" y="2364606"/>
            <a:ext cx="0" cy="553356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row - Agent DB and Tools"/>
          <p:cNvCxnSpPr/>
          <p:nvPr/>
        </p:nvCxnSpPr>
        <p:spPr>
          <a:xfrm>
            <a:off x="6110697" y="3791681"/>
            <a:ext cx="0" cy="1293104"/>
          </a:xfrm>
          <a:prstGeom prst="line">
            <a:avLst/>
          </a:prstGeom>
          <a:ln w="25400">
            <a:solidFill>
              <a:srgbClr val="B5B5AF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row - Login to Planner"/>
          <p:cNvCxnSpPr/>
          <p:nvPr/>
        </p:nvCxnSpPr>
        <p:spPr>
          <a:xfrm>
            <a:off x="2534274" y="5641052"/>
            <a:ext cx="349488" cy="0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 - Planner to Tools"/>
          <p:cNvCxnSpPr/>
          <p:nvPr/>
        </p:nvCxnSpPr>
        <p:spPr>
          <a:xfrm>
            <a:off x="4805944" y="5641052"/>
            <a:ext cx="349487" cy="0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row - Tools to Writer"/>
          <p:cNvCxnSpPr/>
          <p:nvPr/>
        </p:nvCxnSpPr>
        <p:spPr>
          <a:xfrm>
            <a:off x="7071788" y="5641052"/>
            <a:ext cx="349487" cy="0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row - Writer to Checker"/>
          <p:cNvCxnSpPr/>
          <p:nvPr/>
        </p:nvCxnSpPr>
        <p:spPr>
          <a:xfrm>
            <a:off x="9343457" y="5641052"/>
            <a:ext cx="349488" cy="0"/>
          </a:xfrm>
          <a:prstGeom prst="line">
            <a:avLst/>
          </a:prstGeom>
          <a:ln w="25400">
            <a:solidFill>
              <a:srgbClr val="B5B5AF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egend swatch - Model call, words only"/>
          <p:cNvSpPr/>
          <p:nvPr/>
        </p:nvSpPr>
        <p:spPr>
          <a:xfrm>
            <a:off x="7834836" y="1118101"/>
            <a:ext cx="262115" cy="262115"/>
          </a:xfrm>
          <a:prstGeom prst="roundRect">
            <a:avLst>
              <a:gd name="adj" fmla="val 20000"/>
            </a:avLst>
          </a:prstGeom>
          <a:solidFill>
            <a:srgbClr val="E8EFF9"/>
          </a:solidFill>
          <a:ln w="28575">
            <a:solidFill>
              <a:srgbClr val="3B7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 - Model call, words only"/>
          <p:cNvSpPr txBox="1"/>
          <p:nvPr/>
        </p:nvSpPr>
        <p:spPr>
          <a:xfrm>
            <a:off x="8213447" y="1094802"/>
            <a:ext cx="3494875" cy="308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500" b="0">
                <a:solidFill>
                  <a:srgbClr val="555555"/>
                </a:solidFill>
                <a:latin typeface="Arial"/>
              </a:rPr>
              <a:t>Model call, words only</a:t>
            </a:r>
          </a:p>
        </p:txBody>
      </p:sp>
      <p:sp>
        <p:nvSpPr>
          <p:cNvPr id="28" name="Legend swatch - Data store"/>
          <p:cNvSpPr/>
          <p:nvPr/>
        </p:nvSpPr>
        <p:spPr>
          <a:xfrm>
            <a:off x="7834836" y="1520012"/>
            <a:ext cx="262115" cy="262115"/>
          </a:xfrm>
          <a:prstGeom prst="roundRect">
            <a:avLst>
              <a:gd name="adj" fmla="val 20000"/>
            </a:avLst>
          </a:prstGeom>
          <a:solidFill>
            <a:srgbClr val="ECECEA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 - Data store"/>
          <p:cNvSpPr txBox="1"/>
          <p:nvPr/>
        </p:nvSpPr>
        <p:spPr>
          <a:xfrm>
            <a:off x="8213447" y="1496712"/>
            <a:ext cx="3494875" cy="308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500" b="0">
                <a:solidFill>
                  <a:srgbClr val="555555"/>
                </a:solidFill>
                <a:latin typeface="Arial"/>
              </a:rPr>
              <a:t>Data store</a:t>
            </a:r>
          </a:p>
        </p:txBody>
      </p:sp>
      <p:sp>
        <p:nvSpPr>
          <p:cNvPr id="30" name="Legend swatch - Plain code: access and checks"/>
          <p:cNvSpPr/>
          <p:nvPr/>
        </p:nvSpPr>
        <p:spPr>
          <a:xfrm>
            <a:off x="7834836" y="1921922"/>
            <a:ext cx="262115" cy="26211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7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 - Plain code: access and checks"/>
          <p:cNvSpPr txBox="1"/>
          <p:nvPr/>
        </p:nvSpPr>
        <p:spPr>
          <a:xfrm>
            <a:off x="8213447" y="1898623"/>
            <a:ext cx="3494875" cy="308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500" b="0">
                <a:solidFill>
                  <a:srgbClr val="555555"/>
                </a:solidFill>
                <a:latin typeface="Arial"/>
              </a:rPr>
              <a:t>Plain code: access and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